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4"/>
  </p:sldMasterIdLst>
  <p:notesMasterIdLst>
    <p:notesMasterId r:id="rId6"/>
  </p:notesMasterIdLst>
  <p:handoutMasterIdLst>
    <p:handoutMasterId r:id="rId7"/>
  </p:handoutMasterIdLst>
  <p:sldIdLst>
    <p:sldId id="26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30"/>
  </p:normalViewPr>
  <p:slideViewPr>
    <p:cSldViewPr showGuides="1">
      <p:cViewPr varScale="1">
        <p:scale>
          <a:sx n="91" d="100"/>
          <a:sy n="91" d="100"/>
        </p:scale>
        <p:origin x="333" y="12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TSI Met by Assessment</c:v>
                </c:pt>
              </c:strCache>
            </c:strRef>
          </c:tx>
          <c:spPr>
            <a:solidFill>
              <a:srgbClr val="00329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24A-4240-A2EE-0BCC96FE3C97}"/>
              </c:ext>
            </c:extLst>
          </c:dPt>
          <c:dPt>
            <c:idx val="1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24A-4240-A2EE-0BCC96FE3C97}"/>
              </c:ext>
            </c:extLst>
          </c:dPt>
          <c:dPt>
            <c:idx val="2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24A-4240-A2EE-0BCC96FE3C97}"/>
              </c:ext>
            </c:extLst>
          </c:dPt>
          <c:dPt>
            <c:idx val="3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824A-4240-A2EE-0BCC96FE3C97}"/>
              </c:ext>
            </c:extLst>
          </c:dPt>
          <c:dPt>
            <c:idx val="4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24A-4240-A2EE-0BCC96FE3C97}"/>
              </c:ext>
            </c:extLst>
          </c:dPt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17.4</c:v>
                </c:pt>
                <c:pt idx="1">
                  <c:v>17.3</c:v>
                </c:pt>
                <c:pt idx="2">
                  <c:v>26.1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4A-4240-A2EE-0BCC96FE3C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TSI Met by CP/Assessment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62.8</c:v>
                </c:pt>
                <c:pt idx="1">
                  <c:v>74.6</c:v>
                </c:pt>
                <c:pt idx="2">
                  <c:v>81.3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24A-4240-A2EE-0BCC96FE3C9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TSI Not Met</c:v>
                </c:pt>
              </c:strCache>
            </c:strRef>
          </c:tx>
          <c:spPr>
            <a:solidFill>
              <a:srgbClr val="C62828"/>
            </a:solidFill>
            <a:ln>
              <a:noFill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49.0</c:v>
                </c:pt>
                <c:pt idx="1">
                  <c:v>55.1</c:v>
                </c:pt>
                <c:pt idx="2">
                  <c:v>41.3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24A-4240-A2EE-0BCC96FE3C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50892128"/>
        <c:axId val="1550892608"/>
      </c:barChart>
      <c:catAx>
        <c:axId val="1550892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608"/>
        <c:crosses val="autoZero"/>
        <c:auto val="1"/>
        <c:lblAlgn val="ctr"/>
        <c:lblOffset val="100"/>
        <c:noMultiLvlLbl val="0"/>
      </c:catAx>
      <c:valAx>
        <c:axId val="1550892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EA5E-FE69-B21C-5900-5548E5082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16CCA-BD52-7721-1C3E-0C47EB2DD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2091A-634E-4044-EF39-6C794AF1C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F14F3-EC68-4997-1DD2-6D62FBA58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E2F66-BA89-9A1F-A0FC-6575C7CDF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1620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76D66-F8F1-4A5F-744F-6E0074009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61562-3CD4-6ABA-43BC-0BD5D1CDB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DB7C8-1202-7D1F-56AE-17BB994B2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5E10B-5C0F-DFD6-C2E0-D43739CF7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777DA-9BD1-CF0B-8674-3C0FBE05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608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3F8B8-A71C-57FF-12AF-4E1B3A2E3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E4CC2-0B64-4D21-0539-C4334FBD1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0165F-F886-5411-C961-7A4FC1A05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26DE9-8539-DDDC-7772-9C6F0842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67AB4-2A99-85A5-148F-5D7305648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8495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91628-DE2D-73A3-EB46-F8894B734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F0928-10D5-72F3-6D85-73FFAC2FE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CAE67-3871-5E43-E0E6-82C8DAD75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BDEE4-34BC-8464-42CB-A499D8CC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EB7D5-F59F-6D8F-45D7-BAB525FC9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E2173-0F73-077E-74B1-F0A225AC5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035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2AD16-9950-2246-58A9-C570EBED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D3607-E15C-D875-EC7D-8F661E963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75881-75C0-0281-816E-E6D4DF22C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E57FA5-08FD-D017-4C83-BF35E04FC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95765-2854-8ED0-6E75-0F337D34A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974238-C958-EDCD-7BB7-D08315DA8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9AAB96-105F-FBEA-8BE1-5DF79E18C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9DCFAE-2098-F2D1-C2CB-E92BA076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544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B4C93-020A-73F1-7D19-8D0D1A7A0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20F27A-87CE-2566-E85A-4E835DA72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20C69-CB4E-44F7-A408-67C55627795C}" type="datetime1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10E58-05FF-45D0-D946-F138513F5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34B725-E80A-C2E9-3F49-5DC34C00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5157A2-2DF2-811F-CB63-FAEA86FB0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031D66-5B1F-0227-FE69-3C68A79A0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F0DB1-86DA-6593-EC20-A0BC2CC73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538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D6A4-DDEF-B354-028F-23E4C5DF6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6E1F0-8AB0-40C3-446A-7EC2422BF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94748-376B-0EDB-38BA-9237146C5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38272-B2A6-030E-BE67-4087F600E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1522-8F1E-408E-ABA2-6F5B206582B8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C795A-8452-0D5E-D7B5-7D386D2D9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A4006-E7E2-EA2A-26D9-77BDB242A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88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23F31-BF6C-A215-4DFC-F1AA30582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E6EF82-677C-E6CB-F1DC-17DF9B761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FE606-BE5E-8ACA-D035-17350A8D4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3FBCA-E290-47C2-A507-2DDC9FC38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9A776-5AE6-4251-8560-C6066D0B46D6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F96A9-C435-9DEE-E67B-5D637DFA4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E5B53-BF40-CB62-B5AB-58D1A408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5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CE995-F421-6AE4-71B2-FB24ACBBC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1FFE08-DECF-45F7-D23D-BADC4814C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9EFE8-7A3D-87AD-E8C3-10AF215D9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8FEC2-F1CF-5FCE-45ED-03BA70C72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DD0DD-0CAE-B07A-F51F-63F2B6DFC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073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759DE8-8043-5AFE-ACA7-EFB28D30E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E51B2-FF79-C0ED-FBF0-F2FCDB35D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F677F-2392-22EE-CB75-31D34B76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FB22C-EFFB-E339-60F5-9555A6ECF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C0E76-C12F-276F-287B-B1AA49B3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131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5/8/2026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5/8/2026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5/8/2026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theme" Target="../theme/theme1.xml"/><Relationship Id="rId49" Type="http://schemas.openxmlformats.org/officeDocument/2006/relationships/tags" Target="../tags/tag1.xml"/><Relationship Id="rId50" Type="http://schemas.openxmlformats.org/officeDocument/2006/relationships/oleObject" Target="../embeddings/oleObject1.bin"/><Relationship Id="rId51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F7B5651-BB23-92BA-6BB3-26C562896C25}"/>
              </a:ext>
            </a:extLst>
          </p:cNvPr>
          <p:cNvGraphicFramePr>
            <a:graphicFrameLocks/>
          </p:cNvGraphicFramePr>
          <p:nvPr userDrawn="1">
            <p:custDataLst>
              <p:tags r:id="rId49"/>
            </p:custDataLst>
            <p:extLst>
              <p:ext uri="{D42A27DB-BD31-4B8C-83A1-F6EECF244321}">
                <p14:modId xmlns:p14="http://schemas.microsoft.com/office/powerpoint/2010/main" val="27403907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0" imgW="469" imgH="469" progId="TCLayout.ActiveDocument.1">
                  <p:embed/>
                </p:oleObj>
              </mc:Choice>
              <mc:Fallback>
                <p:oleObj name="think-cell Slide" r:id="rId50" imgW="469" imgH="46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34418-1F0C-0BBF-D90A-EAD8B4E63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23581-75DD-2A91-C0BD-F925FD309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0D463-375B-F137-5A3C-D92AE1DD6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14657-813A-4D7B-A2F8-E573BA1645D3}" type="datetime1">
              <a:rPr lang="en-US" smtClean="0"/>
              <a:t>5/8/2026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C1338-8F81-B045-CA8B-C3D2C97EB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4107-564F-5E77-38AC-129CAE7A8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4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19" r:id="rId12"/>
    <p:sldLayoutId id="2147484114" r:id="rId13"/>
    <p:sldLayoutId id="2147484116" r:id="rId14"/>
    <p:sldLayoutId id="2147484117" r:id="rId15"/>
    <p:sldLayoutId id="2147484118" r:id="rId16"/>
    <p:sldLayoutId id="2147484120" r:id="rId17"/>
    <p:sldLayoutId id="2147484121" r:id="rId18"/>
    <p:sldLayoutId id="2147484124" r:id="rId19"/>
    <p:sldLayoutId id="2147484125" r:id="rId20"/>
    <p:sldLayoutId id="2147484126" r:id="rId21"/>
    <p:sldLayoutId id="2147484129" r:id="rId22"/>
    <p:sldLayoutId id="2147484132" r:id="rId23"/>
    <p:sldLayoutId id="2147484133" r:id="rId24"/>
    <p:sldLayoutId id="2147484135" r:id="rId25"/>
    <p:sldLayoutId id="2147484136" r:id="rId26"/>
    <p:sldLayoutId id="2147484138" r:id="rId27"/>
    <p:sldLayoutId id="2147484139" r:id="rId28"/>
    <p:sldLayoutId id="2147484140" r:id="rId29"/>
    <p:sldLayoutId id="2147484141" r:id="rId30"/>
    <p:sldLayoutId id="2147484142" r:id="rId31"/>
    <p:sldLayoutId id="2147484143" r:id="rId32"/>
    <p:sldLayoutId id="2147484144" r:id="rId33"/>
    <p:sldLayoutId id="2147484145" r:id="rId34"/>
    <p:sldLayoutId id="2147484146" r:id="rId35"/>
    <p:sldLayoutId id="2147484147" r:id="rId36"/>
    <p:sldLayoutId id="2147484148" r:id="rId37"/>
    <p:sldLayoutId id="2147484149" r:id="rId38"/>
    <p:sldLayoutId id="2147484150" r:id="rId39"/>
    <p:sldLayoutId id="2147484152" r:id="rId40"/>
    <p:sldLayoutId id="2147484158" r:id="rId41"/>
    <p:sldLayoutId id="2147484159" r:id="rId42"/>
    <p:sldLayoutId id="2147484160" r:id="rId43"/>
    <p:sldLayoutId id="2147484162" r:id="rId44"/>
    <p:sldLayoutId id="2147484163" r:id="rId45"/>
    <p:sldLayoutId id="2147484165" r:id="rId46"/>
    <p:sldLayoutId id="2147484166" r:id="rId4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chart" Target="../charts/chart1.xml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2ED43-C757-3202-9CC5-072988D2F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6AD3372-2A89-E5F2-FDAC-B245605C5A5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69" imgH="469" progId="TCLayout.ActiveDocument.1">
                  <p:embed/>
                </p:oleObj>
              </mc:Choice>
              <mc:Fallback>
                <p:oleObj name="think-cell Slide" r:id="rId3" imgW="469" imgH="469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AD3372-2A89-E5F2-FDAC-B245605C5A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89A3252-863B-C87A-317C-B29967B3E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255" y="308474"/>
            <a:ext cx="10515600" cy="591315"/>
          </a:xfrm>
        </p:spPr>
        <p:txBody>
          <a:bodyPr vert="horz" rIns="91425">
            <a:normAutofit fontScale="90000"/>
          </a:bodyPr>
          <a:lstStyle/>
          <a:p>
            <a:r>
              <a:rPr dirty="0"/>
              <a:t>TSI Status Trends</a:t>
            </a:r>
            <a:br>
              <a:rPr dirty="0"/>
            </a:br>
            <a:endParaRPr dirty="0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2C4226C-2BDB-B656-F1C1-97673010D8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6270309"/>
              </p:ext>
            </p:extLst>
          </p:nvPr>
        </p:nvGraphicFramePr>
        <p:xfrm>
          <a:off x="2468880" y="1554480"/>
          <a:ext cx="73152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5D63D3F6-B7B8-105D-FDB5-A796F96395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017215"/>
            <a:ext cx="1930400" cy="7434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2E902AC-A746-A4A0-E5F5-FFF2DBFD8CDA}"/>
              </a:ext>
            </a:extLst>
          </p:cNvPr>
          <p:cNvSpPr txBox="1"/>
          <p:nvPr/>
        </p:nvSpPr>
        <p:spPr>
          <a:xfrm>
            <a:off x="2184091" y="6379538"/>
            <a:ext cx="6621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Source: TEA. DCP. National Student Clearinghouse.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6A9EE7-F12A-E4E3-7315-C3383084E99F}"/>
              </a:ext>
            </a:extLst>
          </p:cNvPr>
          <p:cNvSpPr txBox="1"/>
          <p:nvPr/>
        </p:nvSpPr>
        <p:spPr>
          <a:xfrm>
            <a:off x="411480" y="109728"/>
            <a:ext cx="365760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z="1200" b="0">
                <a:solidFill>
                  <a:srgbClr val="00B0F0"/>
                </a:solidFill>
                <a:latin typeface="Aptos"/>
              </a:rPr>
              <a:t>South Grand Prairie High School</a:t>
            </a:r>
            <a:endParaRPr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29580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1002</TotalTime>
  <Words>157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think-cell Slide</vt:lpstr>
      <vt:lpstr>TSI Status Trends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Obichi Oleru</dc:creator>
  <cp:lastModifiedBy>Obichi Oleru</cp:lastModifiedBy>
  <cp:revision>4</cp:revision>
  <dcterms:created xsi:type="dcterms:W3CDTF">2026-05-08T23:07:29Z</dcterms:created>
  <dcterms:modified xsi:type="dcterms:W3CDTF">2026-05-09T16:13:41Z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