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6"/>
  </p:notesMasterIdLst>
  <p:handoutMasterIdLst>
    <p:handoutMasterId r:id="rId7"/>
  </p:handoutMasterIdLst>
  <p:sldIdLst>
    <p:sldId id="26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30"/>
  </p:normalViewPr>
  <p:slideViewPr>
    <p:cSldViewPr showGuides="1">
      <p:cViewPr varScale="1">
        <p:scale>
          <a:sx n="91" d="100"/>
          <a:sy n="91" d="100"/>
        </p:scale>
        <p:origin x="333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556228724527107E-2"/>
          <c:y val="9.2286816935777366E-2"/>
          <c:w val="0.9487808679832459"/>
          <c:h val="0.8169305409007244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4-Year College</c:v>
                </c:pt>
              </c:strCache>
            </c:strRef>
          </c:tx>
          <c:spPr>
            <a:solidFill>
              <a:srgbClr val="00547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24A-4240-A2EE-0BCC96FE3C97}"/>
              </c:ext>
            </c:extLst>
          </c:dPt>
          <c:dPt>
            <c:idx val="1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24A-4240-A2EE-0BCC96FE3C97}"/>
              </c:ext>
            </c:extLst>
          </c:dPt>
          <c:dPt>
            <c:idx val="2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24A-4240-A2EE-0BCC96FE3C97}"/>
              </c:ext>
            </c:extLst>
          </c:dPt>
          <c:dPt>
            <c:idx val="3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24A-4240-A2EE-0BCC96FE3C97}"/>
              </c:ext>
            </c:extLst>
          </c:dPt>
          <c:dPt>
            <c:idx val="4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24A-4240-A2EE-0BCC96FE3C97}"/>
              </c:ext>
            </c:extLst>
          </c:dPt>
          <c:dLbls>
            <c:numFmt formatCode="0.0&quot;%&quot;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Early College High School at Brookhaven</c:v>
                </c:pt>
                <c:pt idx="1">
                  <c:v>BOOKER T. WASHINGTON HIGH SCHOOL FOR THE ARTS</c:v>
                </c:pt>
                <c:pt idx="2">
                  <c:v>HILLCREST HIGH SCHOOL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59.5</c:v>
                </c:pt>
                <c:pt idx="1">
                  <c:v>70.7</c:v>
                </c:pt>
                <c:pt idx="2">
                  <c:v>41.3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A-4240-A2EE-0BCC96FE3C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2-Year College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Early College High School at Brookhaven</c:v>
                </c:pt>
                <c:pt idx="1">
                  <c:v>BOOKER T. WASHINGTON HIGH SCHOOL FOR THE ARTS</c:v>
                </c:pt>
                <c:pt idx="2">
                  <c:v>HILLCREST HIGH SCHOOL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12.7</c:v>
                </c:pt>
                <c:pt idx="1">
                  <c:v>13</c:v>
                </c:pt>
                <c:pt idx="2">
                  <c:v>19.8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768-459B-BE9E-C43CFFF9644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Enrolled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Early College High School at Brookhaven</c:v>
                </c:pt>
                <c:pt idx="1">
                  <c:v>BOOKER T. WASHINGTON HIGH SCHOOL FOR THE ARTS</c:v>
                </c:pt>
                <c:pt idx="2">
                  <c:v>HILLCREST HIGH SCHOOL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21.5</c:v>
                </c:pt>
                <c:pt idx="1">
                  <c:v>16.3</c:v>
                </c:pt>
                <c:pt idx="2">
                  <c:v>35.8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0768-459B-BE9E-C43CFFF9644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AA Not Enrolled</c:v>
                </c:pt>
              </c:strCache>
            </c:strRef>
          </c:tx>
          <c:spPr>
            <a:solidFill>
              <a:srgbClr val="DA96D8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Early College High School at Brookhaven</c:v>
                </c:pt>
                <c:pt idx="1">
                  <c:v>BOOKER T. WASHINGTON HIGH SCHOOL FOR THE ARTS</c:v>
                </c:pt>
                <c:pt idx="2">
                  <c:v>HILLCREST HIGH SCHOOL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6.3</c:v>
                </c:pt>
                <c:pt idx="1">
                  <c:v>0</c:v>
                </c:pt>
                <c:pt idx="2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768-459B-BE9E-C43CFFF964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50892128"/>
        <c:axId val="1550892608"/>
      </c:barChart>
      <c:catAx>
        <c:axId val="155089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608"/>
        <c:crosses val="autoZero"/>
        <c:auto val="1"/>
        <c:lblAlgn val="ctr"/>
        <c:lblOffset val="100"/>
        <c:noMultiLvlLbl val="0"/>
      </c:catAx>
      <c:valAx>
        <c:axId val="1550892608"/>
        <c:scaling>
          <c:orientation val="minMax"/>
          <c:max val="105.0"/>
          <c:min val="0.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128"/>
        <c:crosses val="autoZero"/>
        <c:crossBetween val="between"/>
        <c:majorUnit val="20.0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0349880310438861"/>
          <c:y val="0"/>
          <c:w val="0.58101385028934471"/>
          <c:h val="5.67045961332191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EA5E-FE69-B21C-5900-5548E508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16CCA-BD52-7721-1C3E-0C47EB2DD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2091A-634E-4044-EF39-6C794AF1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F14F3-EC68-4997-1DD2-6D62FBA5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2F66-BA89-9A1F-A0FC-6575C7CD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162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6D66-F8F1-4A5F-744F-6E007400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1562-3CD4-6ABA-43BC-0BD5D1CD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DB7C8-1202-7D1F-56AE-17BB994B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E10B-5C0F-DFD6-C2E0-D43739CF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77DA-9BD1-CF0B-8674-3C0FBE05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608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F8B8-A71C-57FF-12AF-4E1B3A2E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4CC2-0B64-4D21-0539-C4334FBD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165F-F886-5411-C961-7A4FC1A0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6DE9-8539-DDDC-7772-9C6F0842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7AB4-2A99-85A5-148F-5D730564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849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1628-DE2D-73A3-EB46-F8894B73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0928-10D5-72F3-6D85-73FFAC2FE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CAE67-3871-5E43-E0E6-82C8DAD75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DEE4-34BC-8464-42CB-A499D8C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B7D5-F59F-6D8F-45D7-BAB525FC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2173-0F73-077E-74B1-F0A225AC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03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AD16-9950-2246-58A9-C570EBED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3607-E15C-D875-EC7D-8F661E963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75881-75C0-0281-816E-E6D4DF22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57FA5-08FD-D017-4C83-BF35E04FC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95765-2854-8ED0-6E75-0F337D34A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74238-C958-EDCD-7BB7-D08315DA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AB96-105F-FBEA-8BE1-5DF79E18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DCFAE-2098-F2D1-C2CB-E92BA076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44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4C93-020A-73F1-7D19-8D0D1A7A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0F27A-87CE-2566-E85A-4E835DA7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10E58-05FF-45D0-D946-F138513F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4B725-E80A-C2E9-3F49-5DC34C00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157A2-2DF2-811F-CB63-FAEA86FB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31D66-5B1F-0227-FE69-3C68A79A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0DB1-86DA-6593-EC20-A0BC2CC7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3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D6A4-DDEF-B354-028F-23E4C5DF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E1F0-8AB0-40C3-446A-7EC2422B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94748-376B-0EDB-38BA-9237146C5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38272-B2A6-030E-BE67-4087F600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795A-8452-0D5E-D7B5-7D386D2D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A4006-E7E2-EA2A-26D9-77BDB242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8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3F31-BF6C-A215-4DFC-F1AA3058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EF82-677C-E6CB-F1DC-17DF9B761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FE606-BE5E-8ACA-D035-17350A8D4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3FBCA-E290-47C2-A507-2DDC9FC3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F96A9-C435-9DEE-E67B-5D637DFA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5B53-BF40-CB62-B5AB-58D1A408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5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E995-F421-6AE4-71B2-FB24ACBB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FFE08-DECF-45F7-D23D-BADC4814C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9EFE8-7A3D-87AD-E8C3-10AF215D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FEC2-F1CF-5FCE-45ED-03BA70C7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D0DD-0CAE-B07A-F51F-63F2B6DF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73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59DE8-8043-5AFE-ACA7-EFB28D30E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E51B2-FF79-C0ED-FBF0-F2FCDB35D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677F-2392-22EE-CB75-31D34B76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B22C-EFFB-E339-60F5-9555A6EC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0E76-C12F-276F-287B-B1AA49B3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131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5/18/2026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Relationship Id="rId49" Type="http://schemas.openxmlformats.org/officeDocument/2006/relationships/tags" Target="../tags/tag1.xml"/><Relationship Id="rId50" Type="http://schemas.openxmlformats.org/officeDocument/2006/relationships/oleObject" Target="../embeddings/oleObject1.bin"/><Relationship Id="rId5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F7B5651-BB23-92BA-6BB3-26C562896C25}"/>
              </a:ext>
            </a:extLst>
          </p:cNvPr>
          <p:cNvGraphicFramePr>
            <a:graphicFrameLocks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2740390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469" imgH="469" progId="TCLayout.ActiveDocument.1">
                  <p:embed/>
                </p:oleObj>
              </mc:Choice>
              <mc:Fallback>
                <p:oleObj name="think-cell Slide" r:id="rId50" imgW="469" imgH="46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34418-1F0C-0BBF-D90A-EAD8B4E6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23581-75DD-2A91-C0BD-F925FD30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0D463-375B-F137-5A3C-D92AE1DD6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1338-8F81-B045-CA8B-C3D2C97EB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4107-564F-5E77-38AC-129CAE7A8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4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19" r:id="rId12"/>
    <p:sldLayoutId id="2147484114" r:id="rId13"/>
    <p:sldLayoutId id="2147484116" r:id="rId14"/>
    <p:sldLayoutId id="2147484117" r:id="rId15"/>
    <p:sldLayoutId id="2147484118" r:id="rId16"/>
    <p:sldLayoutId id="2147484120" r:id="rId17"/>
    <p:sldLayoutId id="2147484121" r:id="rId18"/>
    <p:sldLayoutId id="2147484124" r:id="rId19"/>
    <p:sldLayoutId id="2147484125" r:id="rId20"/>
    <p:sldLayoutId id="2147484126" r:id="rId21"/>
    <p:sldLayoutId id="2147484129" r:id="rId22"/>
    <p:sldLayoutId id="2147484132" r:id="rId23"/>
    <p:sldLayoutId id="2147484133" r:id="rId24"/>
    <p:sldLayoutId id="2147484135" r:id="rId25"/>
    <p:sldLayoutId id="2147484136" r:id="rId26"/>
    <p:sldLayoutId id="2147484138" r:id="rId27"/>
    <p:sldLayoutId id="2147484139" r:id="rId28"/>
    <p:sldLayoutId id="2147484140" r:id="rId29"/>
    <p:sldLayoutId id="2147484141" r:id="rId30"/>
    <p:sldLayoutId id="2147484142" r:id="rId31"/>
    <p:sldLayoutId id="2147484143" r:id="rId32"/>
    <p:sldLayoutId id="2147484144" r:id="rId33"/>
    <p:sldLayoutId id="2147484145" r:id="rId34"/>
    <p:sldLayoutId id="2147484146" r:id="rId35"/>
    <p:sldLayoutId id="2147484147" r:id="rId36"/>
    <p:sldLayoutId id="2147484148" r:id="rId37"/>
    <p:sldLayoutId id="2147484149" r:id="rId38"/>
    <p:sldLayoutId id="2147484150" r:id="rId39"/>
    <p:sldLayoutId id="2147484152" r:id="rId40"/>
    <p:sldLayoutId id="2147484158" r:id="rId41"/>
    <p:sldLayoutId id="2147484159" r:id="rId42"/>
    <p:sldLayoutId id="2147484160" r:id="rId43"/>
    <p:sldLayoutId id="2147484162" r:id="rId44"/>
    <p:sldLayoutId id="2147484163" r:id="rId45"/>
    <p:sldLayoutId id="2147484165" r:id="rId46"/>
    <p:sldLayoutId id="2147484166" r:id="rId4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chart" Target="../charts/chart1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325F1-C8A6-CEE5-FB81-AB480C43F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ADED292-C652-2EE5-AD32-15405641A85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9" imgH="469" progId="TCLayout.ActiveDocument.1">
                  <p:embed/>
                </p:oleObj>
              </mc:Choice>
              <mc:Fallback>
                <p:oleObj name="think-cell Slide" r:id="rId3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A3B2C33-2BFD-E3BB-80A2-B45A1671CC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12F4B89-965F-AA98-CC54-E78680E22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1994"/>
            <a:ext cx="10515600" cy="591315"/>
          </a:xfrm>
        </p:spPr>
        <p:txBody>
          <a:bodyPr vert="horz" rIns="91425">
            <a:normAutofit/>
          </a:bodyPr>
          <a:lstStyle/>
          <a:p>
            <a:r>
              <a:rPr lang="en-US" sz="2800" b="1" dirty="0">
                <a:solidFill>
                  <a:srgbClr val="3333CC"/>
                </a:solidFill>
              </a:rPr>
              <a:t>Postsecondary Enrollment</a:t>
            </a:r>
            <a:endParaRPr sz="2800" b="1" dirty="0">
              <a:solidFill>
                <a:srgbClr val="3333CC"/>
              </a:solidFill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F4E97A7-DC1B-1352-DDD1-2E0D0B4032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6472019"/>
              </p:ext>
            </p:extLst>
          </p:nvPr>
        </p:nvGraphicFramePr>
        <p:xfrm>
          <a:off x="1930400" y="1244742"/>
          <a:ext cx="8474841" cy="4583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C08F235C-2AAF-792A-1CE0-1B39C53218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9FD7DA-BC52-800D-7293-33D536116D62}"/>
              </a:ext>
            </a:extLst>
          </p:cNvPr>
          <p:cNvSpPr txBox="1"/>
          <p:nvPr/>
        </p:nvSpPr>
        <p:spPr>
          <a:xfrm>
            <a:off x="2184091" y="6379538"/>
            <a:ext cx="6621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Source: TEA. DCP. National Student Clearinghouse.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2620F-7980-D76B-3D6B-25DF74A88234}"/>
              </a:ext>
            </a:extLst>
          </p:cNvPr>
          <p:cNvSpPr txBox="1"/>
          <p:nvPr/>
        </p:nvSpPr>
        <p:spPr>
          <a:xfrm>
            <a:off x="76200" y="728173"/>
            <a:ext cx="96012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 sz="1400">
                <a:solidFill>
                  <a:srgbClr val="00B0F0"/>
                </a:solidFill>
                <a:latin typeface="Calibri"/>
              </a:rPr>
              <a:t>DeSoto ISD</a:t>
            </a:r>
            <a:endParaRPr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2987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1031</TotalTime>
  <Words>15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Postsecondary Enrollment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8</cp:revision>
  <dcterms:created xsi:type="dcterms:W3CDTF">2026-05-08T23:07:29Z</dcterms:created>
  <dcterms:modified xsi:type="dcterms:W3CDTF">2026-05-18T16:05:52Z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